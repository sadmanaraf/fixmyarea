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0:35. HOOK AND PRODUCT SENTENCE. Point at the photo: "You see this on your street. Who do you tell? Most people don't know, so most problems go unreported." Then: "FixMyArea turns a photo and a location into the right next action, using AI and Irish open data." Read the six-step journey once, then go straight to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DESIGN. Walk it left to right in one breath: the resident uploads a photo and picks a location; AI vision classifies the issue; the issue type selects the dataset (public lighting, local authority or recycling); the result is matched to the user's location; FixMyArea recommends the next action, either a report for the right service or the correct disposal place. This slide adds time to the 3-minute run: either keep it to about 15 seconds, or use it in place of the "Each part answers one question" slide, or hold it for technical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to 1:35. LIVE DEMO 1. Switch to the app; this slide is the backdrop and fallback. Upload photo, AI labels it, drop pin, nearest lighting asset and council appear, report ready. Narrate each data hit: "That asset ID is from the council's open dataset." One person talks, one drives. Keep a screen recording and a dated data sample ready in case the network or API fails. Replace the bracketed asset ID and distance with the real values from our demo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to 2:05. LIVE DEMO 2. Say: "Same app, different problem." Upload a laptop photo at the same pin. The workflow switches: nearest recycling facility and directions instead of a council report. Land the line: "It's a civic routing system, not an image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to 2:30. HOW IT WORKS. Explain what they just watched: AI = what, location = where, data = what exists there, rules = where it goes. Say: "The AI never decides the destination. Verified public data and rules do, so it doesn't hallucinate a council."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to 2:50. WHY IT MATTERS AND NEXT. More reports reach the right desk first time. The pattern extends to potholes, graffiti and other councils by adding datasets and rules, not code. If asked about limits: Dublin City only today, three issue types, the report is prepared for the resident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to 3:00. CLOSE. Say the quote as the feeling we want every resident to have, then stop. Leave this slide up during questions. Likely questions: how accurate is the classification, what happens when it is unsure (it says so and asks, it does not guess), and does it submit to the council (no, it hands off to the official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not in the 3-minute run. Use for questions. The brief asks us to name the data, so name it explicitly and credit the providers. Key line: "The data is used inside the product, not just visualised." Be honest that the routing table is our own curated file, checked against official council pages. Fill in the real dataset titles, links and update dates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F3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F2742"/>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0F2742"/>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3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F2742"/>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0F2742"/>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6"/>
        </a:solidFill>
      </p:bgPr>
    </p:bg>
    <p:spTree>
      <p:nvGrpSpPr>
        <p:cNvPr id="1" name=""/>
        <p:cNvGrpSpPr/>
        <p:nvPr/>
      </p:nvGrpSpPr>
      <p:grpSpPr>
        <a:xfrm>
          <a:off x="0" y="0"/>
          <a:ext cx="0" cy="0"/>
          <a:chOff x="0" y="0"/>
          <a:chExt cx="0" cy="0"/>
        </a:xfrm>
      </p:grpSpPr>
      <p:pic>
        <p:nvPicPr>
          <p:cNvPr id="2" name="Image 0" descr="Two photos of a broken streetlight on a residential street: a snapped post and a cracked lamp head">    </p:cNvPr>
          <p:cNvPicPr>
            <a:picLocks noChangeAspect="1"/>
          </p:cNvPicPr>
          <p:nvPr/>
        </p:nvPicPr>
        <p:blipFill>
          <a:blip r:embed="rId1"/>
          <a:srcRect l="1528" r="1528" t="0" b="0"/>
          <a:stretch/>
        </p:blipFill>
        <p:spPr>
          <a:xfrm>
            <a:off x="0" y="0"/>
            <a:ext cx="12192000" cy="6858000"/>
          </a:xfrm>
          <a:prstGeom prst="rect">
            <a:avLst/>
          </a:prstGeom>
        </p:spPr>
      </p:pic>
      <p:pic>
        <p:nvPicPr>
          <p:cNvPr id="3" name="Image 1" descr="Dark tint over the photo">    </p:cNvPr>
          <p:cNvPicPr>
            <a:picLocks noChangeAspect="1"/>
          </p:cNvPicPr>
          <p:nvPr/>
        </p:nvPicPr>
        <p:blipFill>
          <a:blip r:embed="rId2"/>
          <a:srcRect l="0" r="0" t="0" b="0"/>
          <a:stretch/>
        </p:blipFill>
        <p:spPr>
          <a:xfrm>
            <a:off x="0" y="0"/>
            <a:ext cx="12192000" cy="6858000"/>
          </a:xfrm>
          <a:prstGeom prst="rect">
            <a:avLst/>
          </a:prstGeom>
        </p:spPr>
      </p:pic>
      <p:sp>
        <p:nvSpPr>
          <p:cNvPr id="4" name="Text 0"/>
          <p:cNvSpPr/>
          <p:nvPr/>
        </p:nvSpPr>
        <p:spPr>
          <a:xfrm>
            <a:off x="812800" y="188724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C0FF"/>
                </a:solidFill>
                <a:latin typeface="Inter" pitchFamily="34" charset="0"/>
                <a:ea typeface="Inter" pitchFamily="34" charset="-122"/>
                <a:cs typeface="Inter" pitchFamily="34" charset="-120"/>
              </a:rPr>
              <a:t>BUILD FOR IRELAND · DOGPATCH LABS · 4 OCTOBER 2026</a:t>
            </a:r>
            <a:endParaRPr lang="en-US" sz="1200" dirty="0"/>
          </a:p>
        </p:txBody>
      </p:sp>
      <p:sp>
        <p:nvSpPr>
          <p:cNvPr id="5" name="Text 1"/>
          <p:cNvSpPr/>
          <p:nvPr>
            <p:ph type="title"/>
          </p:nvPr>
        </p:nvSpPr>
        <p:spPr>
          <a:xfrm>
            <a:off x="812800" y="235456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7F9FC"/>
                </a:solidFill>
                <a:latin typeface="Public Sans" pitchFamily="34" charset="0"/>
                <a:ea typeface="Public Sans" pitchFamily="34" charset="-122"/>
                <a:cs typeface="Public Sans" pitchFamily="34" charset="-120"/>
              </a:rPr>
              <a:t>FixMyArea</a:t>
            </a:r>
            <a:endParaRPr lang="en-US" sz="8000" dirty="0"/>
          </a:p>
        </p:txBody>
      </p:sp>
      <p:sp>
        <p:nvSpPr>
          <p:cNvPr id="6" name="Text 2"/>
          <p:cNvSpPr/>
          <p:nvPr/>
        </p:nvSpPr>
        <p:spPr>
          <a:xfrm>
            <a:off x="812800" y="367536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7F9FC"/>
                </a:solidFill>
                <a:latin typeface="Inter" pitchFamily="34" charset="0"/>
                <a:ea typeface="Inter" pitchFamily="34" charset="-122"/>
                <a:cs typeface="Inter" pitchFamily="34" charset="-120"/>
              </a:rPr>
              <a:t>A photo and a location become the right next action, using AI and Irish open data.</a:t>
            </a:r>
            <a:endParaRPr lang="en-US" sz="2000" dirty="0"/>
          </a:p>
        </p:txBody>
      </p:sp>
      <p:sp>
        <p:nvSpPr>
          <p:cNvPr id="7" name="Text 3"/>
          <p:cNvSpPr/>
          <p:nvPr/>
        </p:nvSpPr>
        <p:spPr>
          <a:xfrm>
            <a:off x="812800" y="461516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FC0FF"/>
                </a:solidFill>
                <a:latin typeface="Public Sans" pitchFamily="34" charset="0"/>
                <a:ea typeface="Public Sans" pitchFamily="34" charset="-122"/>
                <a:cs typeface="Public Sans" pitchFamily="34" charset="-120"/>
              </a:rPr>
              <a:t>See → Capture → Understand → Locate → Route → Act</a:t>
            </a:r>
            <a:endParaRPr lang="en-US" sz="20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3D6"/>
                </a:solidFill>
                <a:latin typeface="Inter" pitchFamily="34" charset="0"/>
                <a:ea typeface="Inter" pitchFamily="34" charset="-122"/>
                <a:cs typeface="Inter" pitchFamily="34" charset="-120"/>
              </a:rPr>
              <a:t>[Team names] · [Project link]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742"/>
                </a:solidFill>
                <a:latin typeface="Public Sans" pitchFamily="34" charset="0"/>
                <a:ea typeface="Public Sans" pitchFamily="34" charset="-122"/>
                <a:cs typeface="Public Sans" pitchFamily="34" charset="-120"/>
              </a:rPr>
              <a:t>System design: from photo to next action</a:t>
            </a:r>
            <a:endParaRPr lang="en-US" sz="3600" dirty="0"/>
          </a:p>
        </p:txBody>
      </p:sp>
      <p:pic>
        <p:nvPicPr>
          <p:cNvPr id="3" name="Image 0" descr="System flow: a resident sees a problem, uploads a photo and selects a location in FixMyArea. AI vision classifies the issue as streetlight, dumping or e-waste. Each type uses its own open dataset: public lighting, local authority or recycling. The result is matched to the user's location to produce a recommendation, which leads to either a report for the service or the correct disposal place.">    </p:cNvPr>
          <p:cNvPicPr>
            <a:picLocks noChangeAspect="1"/>
          </p:cNvPicPr>
          <p:nvPr/>
        </p:nvPicPr>
        <p:blipFill>
          <a:blip r:embed="rId1"/>
          <a:srcRect l="0" r="0" t="-17" b="-17"/>
          <a:stretch/>
        </p:blipFill>
        <p:spPr>
          <a:xfrm>
            <a:off x="812800" y="1620490"/>
            <a:ext cx="10566400" cy="3556000"/>
          </a:xfrm>
          <a:prstGeom prst="rect">
            <a:avLst/>
          </a:prstGeom>
        </p:spPr>
      </p:pic>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70"/>
                </a:solidFill>
                <a:latin typeface="Inter" pitchFamily="34" charset="0"/>
                <a:ea typeface="Inter" pitchFamily="34" charset="-122"/>
                <a:cs typeface="Inter" pitchFamily="34" charset="-120"/>
              </a:rPr>
              <a:t>System design · AI classifies the issue; open data and location decide the result.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742"/>
                </a:solidFill>
                <a:latin typeface="Public Sans" pitchFamily="34" charset="0"/>
                <a:ea typeface="Public Sans" pitchFamily="34" charset="-122"/>
                <a:cs typeface="Public Sans" pitchFamily="34" charset="-120"/>
              </a:rPr>
              <a:t>Live demo 1: a broken streetlight</a:t>
            </a:r>
            <a:endParaRPr lang="en-US" sz="3600" dirty="0"/>
          </a:p>
        </p:txBody>
      </p:sp>
      <p:sp>
        <p:nvSpPr>
          <p:cNvPr id="3" name="Text 1"/>
          <p:cNvSpPr/>
          <p:nvPr/>
        </p:nvSpPr>
        <p:spPr>
          <a:xfrm>
            <a:off x="812800" y="2092275"/>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57C9"/>
                </a:solidFill>
                <a:latin typeface="Public Sans" pitchFamily="34" charset="0"/>
                <a:ea typeface="Public Sans" pitchFamily="34" charset="-122"/>
                <a:cs typeface="Public Sans" pitchFamily="34" charset="-120"/>
              </a:rPr>
              <a:t>1</a:t>
            </a:r>
            <a:endParaRPr lang="en-US" sz="2000" dirty="0"/>
          </a:p>
        </p:txBody>
      </p:sp>
      <p:sp>
        <p:nvSpPr>
          <p:cNvPr id="4" name="Text 2"/>
          <p:cNvSpPr/>
          <p:nvPr/>
        </p:nvSpPr>
        <p:spPr>
          <a:xfrm>
            <a:off x="1295400" y="2117675"/>
            <a:ext cx="2489002"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F2742"/>
                </a:solidFill>
                <a:latin typeface="Inter" pitchFamily="34" charset="0"/>
                <a:ea typeface="Inter" pitchFamily="34" charset="-122"/>
                <a:cs typeface="Inter" pitchFamily="34" charset="-120"/>
              </a:rPr>
              <a:t>Upload the photo</a:t>
            </a:r>
            <a:endParaRPr lang="en-US" sz="2000" dirty="0"/>
          </a:p>
        </p:txBody>
      </p:sp>
      <p:sp>
        <p:nvSpPr>
          <p:cNvPr id="5" name="Text 3"/>
          <p:cNvSpPr/>
          <p:nvPr/>
        </p:nvSpPr>
        <p:spPr>
          <a:xfrm>
            <a:off x="812800" y="2676475"/>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57C9"/>
                </a:solidFill>
                <a:latin typeface="Public Sans" pitchFamily="34" charset="0"/>
                <a:ea typeface="Public Sans" pitchFamily="34" charset="-122"/>
                <a:cs typeface="Public Sans" pitchFamily="34" charset="-120"/>
              </a:rPr>
              <a:t>2</a:t>
            </a:r>
            <a:endParaRPr lang="en-US" sz="2000" dirty="0"/>
          </a:p>
        </p:txBody>
      </p:sp>
      <p:sp>
        <p:nvSpPr>
          <p:cNvPr id="6" name="Text 4"/>
          <p:cNvSpPr/>
          <p:nvPr/>
        </p:nvSpPr>
        <p:spPr>
          <a:xfrm>
            <a:off x="1295400" y="2701875"/>
            <a:ext cx="2604492"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F2742"/>
                </a:solidFill>
                <a:latin typeface="Inter" pitchFamily="34" charset="0"/>
                <a:ea typeface="Inter" pitchFamily="34" charset="-122"/>
                <a:cs typeface="Inter" pitchFamily="34" charset="-120"/>
              </a:rPr>
              <a:t>AI labels the issue</a:t>
            </a:r>
            <a:endParaRPr lang="en-US" sz="2000" dirty="0"/>
          </a:p>
        </p:txBody>
      </p:sp>
      <p:sp>
        <p:nvSpPr>
          <p:cNvPr id="7" name="Text 5"/>
          <p:cNvSpPr/>
          <p:nvPr/>
        </p:nvSpPr>
        <p:spPr>
          <a:xfrm>
            <a:off x="812800" y="3260675"/>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57C9"/>
                </a:solidFill>
                <a:latin typeface="Public Sans" pitchFamily="34" charset="0"/>
                <a:ea typeface="Public Sans" pitchFamily="34" charset="-122"/>
                <a:cs typeface="Public Sans" pitchFamily="34" charset="-120"/>
              </a:rPr>
              <a:t>3</a:t>
            </a:r>
            <a:endParaRPr lang="en-US" sz="2000" dirty="0"/>
          </a:p>
        </p:txBody>
      </p:sp>
      <p:sp>
        <p:nvSpPr>
          <p:cNvPr id="8" name="Text 6"/>
          <p:cNvSpPr/>
          <p:nvPr/>
        </p:nvSpPr>
        <p:spPr>
          <a:xfrm>
            <a:off x="1295400" y="3286075"/>
            <a:ext cx="1768673"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F2742"/>
                </a:solidFill>
                <a:latin typeface="Inter" pitchFamily="34" charset="0"/>
                <a:ea typeface="Inter" pitchFamily="34" charset="-122"/>
                <a:cs typeface="Inter" pitchFamily="34" charset="-120"/>
              </a:rPr>
              <a:t>Drop the pin</a:t>
            </a:r>
            <a:endParaRPr lang="en-US" sz="2000" dirty="0"/>
          </a:p>
        </p:txBody>
      </p:sp>
      <p:sp>
        <p:nvSpPr>
          <p:cNvPr id="9" name="Text 7"/>
          <p:cNvSpPr/>
          <p:nvPr/>
        </p:nvSpPr>
        <p:spPr>
          <a:xfrm>
            <a:off x="812800" y="3844875"/>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57C9"/>
                </a:solidFill>
                <a:latin typeface="Public Sans" pitchFamily="34" charset="0"/>
                <a:ea typeface="Public Sans" pitchFamily="34" charset="-122"/>
                <a:cs typeface="Public Sans" pitchFamily="34" charset="-120"/>
              </a:rPr>
              <a:t>4</a:t>
            </a:r>
            <a:endParaRPr lang="en-US" sz="2000" dirty="0"/>
          </a:p>
        </p:txBody>
      </p:sp>
      <p:sp>
        <p:nvSpPr>
          <p:cNvPr id="10" name="Text 8"/>
          <p:cNvSpPr/>
          <p:nvPr/>
        </p:nvSpPr>
        <p:spPr>
          <a:xfrm>
            <a:off x="1295400" y="3870275"/>
            <a:ext cx="3590925"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F2742"/>
                </a:solidFill>
                <a:latin typeface="Inter" pitchFamily="34" charset="0"/>
                <a:ea typeface="Inter" pitchFamily="34" charset="-122"/>
                <a:cs typeface="Inter" pitchFamily="34" charset="-120"/>
              </a:rPr>
              <a:t>Open data fills in the rest</a:t>
            </a:r>
            <a:endParaRPr lang="en-US" sz="2000" dirty="0"/>
          </a:p>
        </p:txBody>
      </p:sp>
      <p:sp>
        <p:nvSpPr>
          <p:cNvPr id="11" name="Shape 9"/>
          <p:cNvSpPr/>
          <p:nvPr/>
        </p:nvSpPr>
        <p:spPr>
          <a:xfrm>
            <a:off x="4981575" y="1725265"/>
            <a:ext cx="6394450" cy="2842220"/>
          </a:xfrm>
          <a:prstGeom prst="roundRect">
            <a:avLst>
              <a:gd name="adj" fmla="val 5250"/>
            </a:avLst>
          </a:prstGeom>
          <a:solidFill>
            <a:srgbClr val="FFFFFF"/>
          </a:solidFill>
          <a:ln w="6350">
            <a:solidFill>
              <a:srgbClr val="D5DEEA"/>
            </a:solidFill>
            <a:prstDash val="solid"/>
          </a:ln>
        </p:spPr>
      </p:sp>
      <p:sp>
        <p:nvSpPr>
          <p:cNvPr id="12" name="Text 10"/>
          <p:cNvSpPr/>
          <p:nvPr/>
        </p:nvSpPr>
        <p:spPr>
          <a:xfrm>
            <a:off x="5289550" y="2033240"/>
            <a:ext cx="59518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57C9"/>
                </a:solidFill>
                <a:latin typeface="Inter" pitchFamily="34" charset="0"/>
                <a:ea typeface="Inter" pitchFamily="34" charset="-122"/>
                <a:cs typeface="Inter" pitchFamily="34" charset="-120"/>
              </a:rPr>
              <a:t>WHAT THE RESIDENT SEES</a:t>
            </a:r>
            <a:endParaRPr lang="en-US" sz="1200" dirty="0"/>
          </a:p>
        </p:txBody>
      </p:sp>
      <p:sp>
        <p:nvSpPr>
          <p:cNvPr id="13" name="Text 11"/>
          <p:cNvSpPr/>
          <p:nvPr/>
        </p:nvSpPr>
        <p:spPr>
          <a:xfrm>
            <a:off x="5289550" y="2373561"/>
            <a:ext cx="59518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742"/>
                </a:solidFill>
                <a:latin typeface="Public Sans" pitchFamily="34" charset="0"/>
                <a:ea typeface="Public Sans" pitchFamily="34" charset="-122"/>
                <a:cs typeface="Public Sans" pitchFamily="34" charset="-120"/>
              </a:rPr>
              <a:t>Possible broken streetlight</a:t>
            </a:r>
            <a:endParaRPr lang="en-US" sz="2000" dirty="0"/>
          </a:p>
        </p:txBody>
      </p:sp>
      <p:sp>
        <p:nvSpPr>
          <p:cNvPr id="14" name="Shape 12"/>
          <p:cNvSpPr/>
          <p:nvPr/>
        </p:nvSpPr>
        <p:spPr>
          <a:xfrm>
            <a:off x="5289550" y="2808536"/>
            <a:ext cx="5778500" cy="0"/>
          </a:xfrm>
          <a:prstGeom prst="line">
            <a:avLst/>
          </a:prstGeom>
          <a:noFill/>
          <a:ln w="6350">
            <a:solidFill>
              <a:srgbClr val="D5DEEA"/>
            </a:solidFill>
            <a:prstDash val="solid"/>
          </a:ln>
        </p:spPr>
      </p:sp>
      <p:sp>
        <p:nvSpPr>
          <p:cNvPr id="15" name="Text 13"/>
          <p:cNvSpPr/>
          <p:nvPr/>
        </p:nvSpPr>
        <p:spPr>
          <a:xfrm>
            <a:off x="5289550" y="2938711"/>
            <a:ext cx="9913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70"/>
                </a:solidFill>
                <a:latin typeface="Inter" pitchFamily="34" charset="0"/>
                <a:ea typeface="Inter" pitchFamily="34" charset="-122"/>
                <a:cs typeface="Inter" pitchFamily="34" charset="-120"/>
              </a:rPr>
              <a:t>Authority</a:t>
            </a:r>
            <a:endParaRPr lang="en-US" sz="1500" dirty="0"/>
          </a:p>
        </p:txBody>
      </p:sp>
      <p:sp>
        <p:nvSpPr>
          <p:cNvPr id="16" name="Text 14"/>
          <p:cNvSpPr/>
          <p:nvPr/>
        </p:nvSpPr>
        <p:spPr>
          <a:xfrm>
            <a:off x="8957310" y="2938711"/>
            <a:ext cx="211074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0F2742"/>
                </a:solidFill>
                <a:latin typeface="Inter" pitchFamily="34" charset="0"/>
                <a:ea typeface="Inter" pitchFamily="34" charset="-122"/>
                <a:cs typeface="Inter" pitchFamily="34" charset="-120"/>
              </a:rPr>
              <a:t>Dublin City Council</a:t>
            </a:r>
            <a:endParaRPr lang="en-US" sz="1500" dirty="0"/>
          </a:p>
        </p:txBody>
      </p:sp>
      <p:sp>
        <p:nvSpPr>
          <p:cNvPr id="17" name="Shape 15"/>
          <p:cNvSpPr/>
          <p:nvPr/>
        </p:nvSpPr>
        <p:spPr>
          <a:xfrm>
            <a:off x="5289550" y="3335586"/>
            <a:ext cx="5778500" cy="0"/>
          </a:xfrm>
          <a:prstGeom prst="line">
            <a:avLst/>
          </a:prstGeom>
          <a:noFill/>
          <a:ln w="6350">
            <a:solidFill>
              <a:srgbClr val="D5DEEA"/>
            </a:solidFill>
            <a:prstDash val="solid"/>
          </a:ln>
        </p:spPr>
      </p:sp>
      <p:sp>
        <p:nvSpPr>
          <p:cNvPr id="18" name="Text 16"/>
          <p:cNvSpPr/>
          <p:nvPr/>
        </p:nvSpPr>
        <p:spPr>
          <a:xfrm>
            <a:off x="5289550" y="3465761"/>
            <a:ext cx="23449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70"/>
                </a:solidFill>
                <a:latin typeface="Inter" pitchFamily="34" charset="0"/>
                <a:ea typeface="Inter" pitchFamily="34" charset="-122"/>
                <a:cs typeface="Inter" pitchFamily="34" charset="-120"/>
              </a:rPr>
              <a:t>Nearest lighting asset</a:t>
            </a:r>
            <a:endParaRPr lang="en-US" sz="1500" dirty="0"/>
          </a:p>
        </p:txBody>
      </p:sp>
      <p:sp>
        <p:nvSpPr>
          <p:cNvPr id="19" name="Text 17"/>
          <p:cNvSpPr/>
          <p:nvPr/>
        </p:nvSpPr>
        <p:spPr>
          <a:xfrm>
            <a:off x="8563273" y="3465761"/>
            <a:ext cx="2504777"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0F2742"/>
                </a:solidFill>
                <a:latin typeface="Inter" pitchFamily="34" charset="0"/>
                <a:ea typeface="Inter" pitchFamily="34" charset="-122"/>
                <a:cs typeface="Inter" pitchFamily="34" charset="-120"/>
              </a:rPr>
              <a:t>[Asset ID], [__] m away</a:t>
            </a:r>
            <a:endParaRPr lang="en-US" sz="1500" dirty="0"/>
          </a:p>
        </p:txBody>
      </p:sp>
      <p:sp>
        <p:nvSpPr>
          <p:cNvPr id="20" name="Shape 18"/>
          <p:cNvSpPr/>
          <p:nvPr/>
        </p:nvSpPr>
        <p:spPr>
          <a:xfrm>
            <a:off x="5289550" y="3862636"/>
            <a:ext cx="5778500" cy="0"/>
          </a:xfrm>
          <a:prstGeom prst="line">
            <a:avLst/>
          </a:prstGeom>
          <a:noFill/>
          <a:ln w="6350">
            <a:solidFill>
              <a:srgbClr val="D5DEEA"/>
            </a:solidFill>
            <a:prstDash val="solid"/>
          </a:ln>
        </p:spPr>
      </p:sp>
      <p:sp>
        <p:nvSpPr>
          <p:cNvPr id="21" name="Text 19"/>
          <p:cNvSpPr/>
          <p:nvPr/>
        </p:nvSpPr>
        <p:spPr>
          <a:xfrm>
            <a:off x="5289550" y="3992811"/>
            <a:ext cx="12299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70"/>
                </a:solidFill>
                <a:latin typeface="Inter" pitchFamily="34" charset="0"/>
                <a:ea typeface="Inter" pitchFamily="34" charset="-122"/>
                <a:cs typeface="Inter" pitchFamily="34" charset="-120"/>
              </a:rPr>
              <a:t>Next action</a:t>
            </a:r>
            <a:endParaRPr lang="en-US" sz="1500" dirty="0"/>
          </a:p>
        </p:txBody>
      </p:sp>
      <p:sp>
        <p:nvSpPr>
          <p:cNvPr id="22" name="Text 20"/>
          <p:cNvSpPr/>
          <p:nvPr/>
        </p:nvSpPr>
        <p:spPr>
          <a:xfrm>
            <a:off x="8761809" y="3992811"/>
            <a:ext cx="2306241"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1257C9"/>
                </a:solidFill>
                <a:latin typeface="Inter" pitchFamily="34" charset="0"/>
                <a:ea typeface="Inter" pitchFamily="34" charset="-122"/>
                <a:cs typeface="Inter" pitchFamily="34" charset="-120"/>
              </a:rPr>
              <a:t>Report ready to send</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70"/>
                </a:solidFill>
                <a:latin typeface="Inter" pitchFamily="34" charset="0"/>
                <a:ea typeface="Inter" pitchFamily="34" charset="-122"/>
                <a:cs typeface="Inter" pitchFamily="34" charset="-120"/>
              </a:rPr>
              <a:t>Demo 1 · Report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742"/>
                </a:solidFill>
                <a:latin typeface="Public Sans" pitchFamily="34" charset="0"/>
                <a:ea typeface="Public Sans" pitchFamily="34" charset="-122"/>
                <a:cs typeface="Public Sans" pitchFamily="34" charset="-120"/>
              </a:rPr>
              <a:t>Live demo 2: same app, a broken laptop</a:t>
            </a:r>
            <a:endParaRPr lang="en-US" sz="3600" dirty="0"/>
          </a:p>
        </p:txBody>
      </p:sp>
      <p:sp>
        <p:nvSpPr>
          <p:cNvPr id="3" name="Shape 1"/>
          <p:cNvSpPr/>
          <p:nvPr/>
        </p:nvSpPr>
        <p:spPr>
          <a:xfrm>
            <a:off x="815975" y="2732435"/>
            <a:ext cx="2406650" cy="1337270"/>
          </a:xfrm>
          <a:prstGeom prst="roundRect">
            <a:avLst>
              <a:gd name="adj" fmla="val 7360"/>
            </a:avLst>
          </a:prstGeom>
          <a:solidFill>
            <a:srgbClr val="FFFFFF"/>
          </a:solidFill>
          <a:ln w="6350">
            <a:solidFill>
              <a:srgbClr val="D5DEEA"/>
            </a:solidFill>
            <a:prstDash val="solid"/>
          </a:ln>
        </p:spPr>
      </p:sp>
      <p:sp>
        <p:nvSpPr>
          <p:cNvPr id="4" name="Text 2"/>
          <p:cNvSpPr/>
          <p:nvPr/>
        </p:nvSpPr>
        <p:spPr>
          <a:xfrm>
            <a:off x="1047750" y="2964210"/>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70"/>
                </a:solidFill>
                <a:latin typeface="Inter" pitchFamily="34" charset="0"/>
                <a:ea typeface="Inter" pitchFamily="34" charset="-122"/>
                <a:cs typeface="Inter" pitchFamily="34" charset="-120"/>
              </a:rPr>
              <a:t>INPUT</a:t>
            </a:r>
            <a:endParaRPr lang="en-US" sz="1200" dirty="0"/>
          </a:p>
        </p:txBody>
      </p:sp>
      <p:sp>
        <p:nvSpPr>
          <p:cNvPr id="5" name="Text 3"/>
          <p:cNvSpPr/>
          <p:nvPr/>
        </p:nvSpPr>
        <p:spPr>
          <a:xfrm>
            <a:off x="1047750" y="3253730"/>
            <a:ext cx="2001393"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F2742"/>
                </a:solidFill>
                <a:latin typeface="Public Sans" pitchFamily="34" charset="0"/>
                <a:ea typeface="Public Sans" pitchFamily="34" charset="-122"/>
                <a:cs typeface="Public Sans" pitchFamily="34" charset="-120"/>
              </a:rPr>
              <a:t>Laptop photo, same pin</a:t>
            </a:r>
            <a:endParaRPr lang="en-US" sz="2000" dirty="0"/>
          </a:p>
        </p:txBody>
      </p:sp>
      <p:sp>
        <p:nvSpPr>
          <p:cNvPr id="6" name="Text 4"/>
          <p:cNvSpPr/>
          <p:nvPr/>
        </p:nvSpPr>
        <p:spPr>
          <a:xfrm>
            <a:off x="3429000" y="3081040"/>
            <a:ext cx="558800" cy="665460"/>
          </a:xfrm>
          <a:prstGeom prst="rect">
            <a:avLst/>
          </a:prstGeom>
          <a:noFill/>
          <a:ln/>
        </p:spPr>
        <p:txBody>
          <a:bodyPr wrap="square" lIns="0" tIns="0" rIns="0" bIns="0" rtlCol="0" anchor="t">
            <a:normAutofit/>
          </a:bodyPr>
          <a:lstStyle/>
          <a:p>
            <a:pPr algn="ctr" indent="0" marL="0">
              <a:lnSpc>
                <a:spcPts val="5040"/>
              </a:lnSpc>
              <a:buNone/>
            </a:pPr>
            <a:r>
              <a:rPr lang="en-US" sz="3600" dirty="0">
                <a:solidFill>
                  <a:srgbClr val="1257C9"/>
                </a:solidFill>
                <a:latin typeface="Inter" pitchFamily="34" charset="0"/>
                <a:ea typeface="Inter" pitchFamily="34" charset="-122"/>
                <a:cs typeface="Inter" pitchFamily="34" charset="-120"/>
              </a:rPr>
              <a:t>→</a:t>
            </a:r>
            <a:endParaRPr lang="en-US" sz="3600" dirty="0"/>
          </a:p>
        </p:txBody>
      </p:sp>
      <p:sp>
        <p:nvSpPr>
          <p:cNvPr id="7" name="Shape 5"/>
          <p:cNvSpPr/>
          <p:nvPr/>
        </p:nvSpPr>
        <p:spPr>
          <a:xfrm>
            <a:off x="4194175" y="2732435"/>
            <a:ext cx="2406650" cy="1337270"/>
          </a:xfrm>
          <a:prstGeom prst="roundRect">
            <a:avLst>
              <a:gd name="adj" fmla="val 7360"/>
            </a:avLst>
          </a:prstGeom>
          <a:solidFill>
            <a:srgbClr val="FFFFFF"/>
          </a:solidFill>
          <a:ln w="6350">
            <a:solidFill>
              <a:srgbClr val="D5DEEA"/>
            </a:solidFill>
            <a:prstDash val="solid"/>
          </a:ln>
        </p:spPr>
      </p:sp>
      <p:sp>
        <p:nvSpPr>
          <p:cNvPr id="8" name="Text 6"/>
          <p:cNvSpPr/>
          <p:nvPr/>
        </p:nvSpPr>
        <p:spPr>
          <a:xfrm>
            <a:off x="4425950" y="2964210"/>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70"/>
                </a:solidFill>
                <a:latin typeface="Inter" pitchFamily="34" charset="0"/>
                <a:ea typeface="Inter" pitchFamily="34" charset="-122"/>
                <a:cs typeface="Inter" pitchFamily="34" charset="-120"/>
              </a:rPr>
              <a:t>AI SAYS</a:t>
            </a:r>
            <a:endParaRPr lang="en-US" sz="1200" dirty="0"/>
          </a:p>
        </p:txBody>
      </p:sp>
      <p:sp>
        <p:nvSpPr>
          <p:cNvPr id="9" name="Text 7"/>
          <p:cNvSpPr/>
          <p:nvPr/>
        </p:nvSpPr>
        <p:spPr>
          <a:xfrm>
            <a:off x="4425950" y="3253730"/>
            <a:ext cx="2001393"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F2742"/>
                </a:solidFill>
                <a:latin typeface="Public Sans" pitchFamily="34" charset="0"/>
                <a:ea typeface="Public Sans" pitchFamily="34" charset="-122"/>
                <a:cs typeface="Public Sans" pitchFamily="34" charset="-120"/>
              </a:rPr>
              <a:t>Electronic waste</a:t>
            </a:r>
            <a:endParaRPr lang="en-US" sz="2000" dirty="0"/>
          </a:p>
        </p:txBody>
      </p:sp>
      <p:sp>
        <p:nvSpPr>
          <p:cNvPr id="10" name="Text 8"/>
          <p:cNvSpPr/>
          <p:nvPr/>
        </p:nvSpPr>
        <p:spPr>
          <a:xfrm>
            <a:off x="6807200" y="3081040"/>
            <a:ext cx="558800" cy="665460"/>
          </a:xfrm>
          <a:prstGeom prst="rect">
            <a:avLst/>
          </a:prstGeom>
          <a:noFill/>
          <a:ln/>
        </p:spPr>
        <p:txBody>
          <a:bodyPr wrap="square" lIns="0" tIns="0" rIns="0" bIns="0" rtlCol="0" anchor="t">
            <a:normAutofit/>
          </a:bodyPr>
          <a:lstStyle/>
          <a:p>
            <a:pPr algn="ctr" indent="0" marL="0">
              <a:lnSpc>
                <a:spcPts val="5040"/>
              </a:lnSpc>
              <a:buNone/>
            </a:pPr>
            <a:r>
              <a:rPr lang="en-US" sz="3600" dirty="0">
                <a:solidFill>
                  <a:srgbClr val="1257C9"/>
                </a:solidFill>
                <a:latin typeface="Inter" pitchFamily="34" charset="0"/>
                <a:ea typeface="Inter" pitchFamily="34" charset="-122"/>
                <a:cs typeface="Inter" pitchFamily="34" charset="-120"/>
              </a:rPr>
              <a:t>→</a:t>
            </a:r>
            <a:endParaRPr lang="en-US" sz="3600" dirty="0"/>
          </a:p>
        </p:txBody>
      </p:sp>
      <p:sp>
        <p:nvSpPr>
          <p:cNvPr id="11" name="Shape 9"/>
          <p:cNvSpPr/>
          <p:nvPr/>
        </p:nvSpPr>
        <p:spPr>
          <a:xfrm>
            <a:off x="7575550" y="2222550"/>
            <a:ext cx="3797300" cy="899120"/>
          </a:xfrm>
          <a:prstGeom prst="roundRect">
            <a:avLst>
              <a:gd name="adj" fmla="val 10594"/>
            </a:avLst>
          </a:prstGeom>
          <a:noFill/>
          <a:ln w="12700">
            <a:solidFill>
              <a:srgbClr val="B4C3D6"/>
            </a:solidFill>
            <a:prstDash val="dash"/>
          </a:ln>
        </p:spPr>
      </p:sp>
      <p:sp>
        <p:nvSpPr>
          <p:cNvPr id="12" name="Text 10"/>
          <p:cNvSpPr/>
          <p:nvPr/>
        </p:nvSpPr>
        <p:spPr>
          <a:xfrm>
            <a:off x="7810500" y="2406700"/>
            <a:ext cx="342722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70"/>
                </a:solidFill>
                <a:latin typeface="Inter" pitchFamily="34" charset="0"/>
                <a:ea typeface="Inter" pitchFamily="34" charset="-122"/>
                <a:cs typeface="Inter" pitchFamily="34" charset="-120"/>
              </a:rPr>
              <a:t>NOT THIS TIME</a:t>
            </a:r>
            <a:endParaRPr lang="en-US" sz="1200" dirty="0"/>
          </a:p>
        </p:txBody>
      </p:sp>
      <p:sp>
        <p:nvSpPr>
          <p:cNvPr id="13" name="Text 11"/>
          <p:cNvSpPr/>
          <p:nvPr/>
        </p:nvSpPr>
        <p:spPr>
          <a:xfrm>
            <a:off x="7810500" y="2670820"/>
            <a:ext cx="342722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70"/>
                </a:solidFill>
                <a:latin typeface="Inter" pitchFamily="34" charset="0"/>
                <a:ea typeface="Inter" pitchFamily="34" charset="-122"/>
                <a:cs typeface="Inter" pitchFamily="34" charset="-120"/>
              </a:rPr>
              <a:t>Council report</a:t>
            </a:r>
            <a:endParaRPr lang="en-US" sz="1500" dirty="0"/>
          </a:p>
        </p:txBody>
      </p:sp>
      <p:sp>
        <p:nvSpPr>
          <p:cNvPr id="14" name="Shape 12"/>
          <p:cNvSpPr/>
          <p:nvPr/>
        </p:nvSpPr>
        <p:spPr>
          <a:xfrm>
            <a:off x="7569200" y="3280420"/>
            <a:ext cx="3810000" cy="1305520"/>
          </a:xfrm>
          <a:prstGeom prst="roundRect">
            <a:avLst>
              <a:gd name="adj" fmla="val 7782"/>
            </a:avLst>
          </a:prstGeom>
          <a:solidFill>
            <a:srgbClr val="0F2742"/>
          </a:solidFill>
          <a:ln/>
        </p:spPr>
      </p:sp>
      <p:sp>
        <p:nvSpPr>
          <p:cNvPr id="15" name="Text 13"/>
          <p:cNvSpPr/>
          <p:nvPr/>
        </p:nvSpPr>
        <p:spPr>
          <a:xfrm>
            <a:off x="7797800" y="3509020"/>
            <a:ext cx="34533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C0FF"/>
                </a:solidFill>
                <a:latin typeface="Inter" pitchFamily="34" charset="0"/>
                <a:ea typeface="Inter" pitchFamily="34" charset="-122"/>
                <a:cs typeface="Inter" pitchFamily="34" charset="-120"/>
              </a:rPr>
              <a:t>THIS ROUTE</a:t>
            </a:r>
            <a:endParaRPr lang="en-US" sz="1200" dirty="0"/>
          </a:p>
        </p:txBody>
      </p:sp>
      <p:sp>
        <p:nvSpPr>
          <p:cNvPr id="16" name="Text 14"/>
          <p:cNvSpPr/>
          <p:nvPr/>
        </p:nvSpPr>
        <p:spPr>
          <a:xfrm>
            <a:off x="7797800" y="3773140"/>
            <a:ext cx="3453384"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7F9FC"/>
                </a:solidFill>
                <a:latin typeface="Public Sans" pitchFamily="34" charset="0"/>
                <a:ea typeface="Public Sans" pitchFamily="34" charset="-122"/>
                <a:cs typeface="Public Sans" pitchFamily="34" charset="-120"/>
              </a:rPr>
              <a:t>Nearest recycling facility, with directions</a:t>
            </a:r>
            <a:endParaRPr lang="en-US" sz="2000" dirty="0"/>
          </a:p>
        </p:txBody>
      </p:sp>
      <p:sp>
        <p:nvSpPr>
          <p:cNvPr id="17" name="Text 15"/>
          <p:cNvSpPr/>
          <p:nvPr/>
        </p:nvSpPr>
        <p:spPr>
          <a:xfrm>
            <a:off x="812800" y="54864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F2742"/>
                </a:solidFill>
                <a:latin typeface="Public Sans" pitchFamily="34" charset="0"/>
                <a:ea typeface="Public Sans" pitchFamily="34" charset="-122"/>
                <a:cs typeface="Public Sans" pitchFamily="34" charset="-120"/>
              </a:rPr>
              <a:t>A civic routing system, not an image classifier.</a:t>
            </a:r>
            <a:endParaRPr lang="en-US" sz="20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70"/>
                </a:solidFill>
                <a:latin typeface="Inter" pitchFamily="34" charset="0"/>
                <a:ea typeface="Inter" pitchFamily="34" charset="-122"/>
                <a:cs typeface="Inter" pitchFamily="34" charset="-120"/>
              </a:rPr>
              <a:t>Demo 2 · Recycle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742"/>
                </a:solidFill>
                <a:latin typeface="Public Sans" pitchFamily="34" charset="0"/>
                <a:ea typeface="Public Sans" pitchFamily="34" charset="-122"/>
                <a:cs typeface="Public Sans" pitchFamily="34" charset="-120"/>
              </a:rPr>
              <a:t>Each part answers one question</a:t>
            </a:r>
            <a:endParaRPr lang="en-US" sz="3600" dirty="0"/>
          </a:p>
        </p:txBody>
      </p:sp>
      <p:sp>
        <p:nvSpPr>
          <p:cNvPr id="3" name="Shape 1"/>
          <p:cNvSpPr/>
          <p:nvPr/>
        </p:nvSpPr>
        <p:spPr>
          <a:xfrm>
            <a:off x="812800" y="1623665"/>
            <a:ext cx="10566400" cy="0"/>
          </a:xfrm>
          <a:prstGeom prst="line">
            <a:avLst/>
          </a:prstGeom>
          <a:noFill/>
          <a:ln w="6350">
            <a:solidFill>
              <a:srgbClr val="B4C3D6"/>
            </a:solidFill>
            <a:prstDash val="solid"/>
          </a:ln>
        </p:spPr>
      </p:sp>
      <p:sp>
        <p:nvSpPr>
          <p:cNvPr id="4" name="Text 2"/>
          <p:cNvSpPr/>
          <p:nvPr/>
        </p:nvSpPr>
        <p:spPr>
          <a:xfrm>
            <a:off x="812800" y="1779240"/>
            <a:ext cx="2616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57C9"/>
                </a:solidFill>
                <a:latin typeface="Public Sans" pitchFamily="34" charset="0"/>
                <a:ea typeface="Public Sans" pitchFamily="34" charset="-122"/>
                <a:cs typeface="Public Sans" pitchFamily="34" charset="-120"/>
              </a:rPr>
              <a:t>AI vision</a:t>
            </a:r>
            <a:endParaRPr lang="en-US" sz="2000" dirty="0"/>
          </a:p>
        </p:txBody>
      </p:sp>
      <p:sp>
        <p:nvSpPr>
          <p:cNvPr id="5" name="Text 3"/>
          <p:cNvSpPr/>
          <p:nvPr/>
        </p:nvSpPr>
        <p:spPr>
          <a:xfrm>
            <a:off x="3657600" y="1779240"/>
            <a:ext cx="313944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F2742"/>
                </a:solidFill>
                <a:latin typeface="Inter" pitchFamily="34" charset="0"/>
                <a:ea typeface="Inter" pitchFamily="34" charset="-122"/>
                <a:cs typeface="Inter" pitchFamily="34" charset="-120"/>
              </a:rPr>
              <a:t>What is it?</a:t>
            </a:r>
            <a:endParaRPr lang="en-US" sz="2000" dirty="0"/>
          </a:p>
        </p:txBody>
      </p:sp>
      <p:sp>
        <p:nvSpPr>
          <p:cNvPr id="6" name="Text 4"/>
          <p:cNvSpPr/>
          <p:nvPr/>
        </p:nvSpPr>
        <p:spPr>
          <a:xfrm>
            <a:off x="7010400" y="1845915"/>
            <a:ext cx="44998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70"/>
                </a:solidFill>
                <a:latin typeface="Inter" pitchFamily="34" charset="0"/>
                <a:ea typeface="Inter" pitchFamily="34" charset="-122"/>
                <a:cs typeface="Inter" pitchFamily="34" charset="-120"/>
              </a:rPr>
              <a:t>Picks from a closed set of issue types</a:t>
            </a:r>
            <a:endParaRPr lang="en-US" sz="1500" dirty="0"/>
          </a:p>
        </p:txBody>
      </p:sp>
      <p:sp>
        <p:nvSpPr>
          <p:cNvPr id="7" name="Shape 5"/>
          <p:cNvSpPr/>
          <p:nvPr/>
        </p:nvSpPr>
        <p:spPr>
          <a:xfrm>
            <a:off x="812800" y="2290415"/>
            <a:ext cx="10566400" cy="0"/>
          </a:xfrm>
          <a:prstGeom prst="line">
            <a:avLst/>
          </a:prstGeom>
          <a:noFill/>
          <a:ln w="6350">
            <a:solidFill>
              <a:srgbClr val="B4C3D6"/>
            </a:solidFill>
            <a:prstDash val="solid"/>
          </a:ln>
        </p:spPr>
      </p:sp>
      <p:sp>
        <p:nvSpPr>
          <p:cNvPr id="8" name="Text 6"/>
          <p:cNvSpPr/>
          <p:nvPr/>
        </p:nvSpPr>
        <p:spPr>
          <a:xfrm>
            <a:off x="812800" y="2445990"/>
            <a:ext cx="2616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57C9"/>
                </a:solidFill>
                <a:latin typeface="Public Sans" pitchFamily="34" charset="0"/>
                <a:ea typeface="Public Sans" pitchFamily="34" charset="-122"/>
                <a:cs typeface="Public Sans" pitchFamily="34" charset="-120"/>
              </a:rPr>
              <a:t>Location</a:t>
            </a:r>
            <a:endParaRPr lang="en-US" sz="2000" dirty="0"/>
          </a:p>
        </p:txBody>
      </p:sp>
      <p:sp>
        <p:nvSpPr>
          <p:cNvPr id="9" name="Text 7"/>
          <p:cNvSpPr/>
          <p:nvPr/>
        </p:nvSpPr>
        <p:spPr>
          <a:xfrm>
            <a:off x="3657600" y="2445990"/>
            <a:ext cx="313944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F2742"/>
                </a:solidFill>
                <a:latin typeface="Inter" pitchFamily="34" charset="0"/>
                <a:ea typeface="Inter" pitchFamily="34" charset="-122"/>
                <a:cs typeface="Inter" pitchFamily="34" charset="-120"/>
              </a:rPr>
              <a:t>Where is it?</a:t>
            </a:r>
            <a:endParaRPr lang="en-US" sz="2000" dirty="0"/>
          </a:p>
        </p:txBody>
      </p:sp>
      <p:sp>
        <p:nvSpPr>
          <p:cNvPr id="10" name="Text 8"/>
          <p:cNvSpPr/>
          <p:nvPr/>
        </p:nvSpPr>
        <p:spPr>
          <a:xfrm>
            <a:off x="7010400" y="2512665"/>
            <a:ext cx="44998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70"/>
                </a:solidFill>
                <a:latin typeface="Inter" pitchFamily="34" charset="0"/>
                <a:ea typeface="Inter" pitchFamily="34" charset="-122"/>
                <a:cs typeface="Inter" pitchFamily="34" charset="-120"/>
              </a:rPr>
              <a:t>A map pin, as latitude and longitude</a:t>
            </a:r>
            <a:endParaRPr lang="en-US" sz="1500" dirty="0"/>
          </a:p>
        </p:txBody>
      </p:sp>
      <p:sp>
        <p:nvSpPr>
          <p:cNvPr id="11" name="Shape 9"/>
          <p:cNvSpPr/>
          <p:nvPr/>
        </p:nvSpPr>
        <p:spPr>
          <a:xfrm>
            <a:off x="812800" y="2957165"/>
            <a:ext cx="10566400" cy="0"/>
          </a:xfrm>
          <a:prstGeom prst="line">
            <a:avLst/>
          </a:prstGeom>
          <a:noFill/>
          <a:ln w="6350">
            <a:solidFill>
              <a:srgbClr val="B4C3D6"/>
            </a:solidFill>
            <a:prstDash val="solid"/>
          </a:ln>
        </p:spPr>
      </p:sp>
      <p:sp>
        <p:nvSpPr>
          <p:cNvPr id="12" name="Text 10"/>
          <p:cNvSpPr/>
          <p:nvPr/>
        </p:nvSpPr>
        <p:spPr>
          <a:xfrm>
            <a:off x="812800" y="3112740"/>
            <a:ext cx="2616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57C9"/>
                </a:solidFill>
                <a:latin typeface="Public Sans" pitchFamily="34" charset="0"/>
                <a:ea typeface="Public Sans" pitchFamily="34" charset="-122"/>
                <a:cs typeface="Public Sans" pitchFamily="34" charset="-120"/>
              </a:rPr>
              <a:t>Public data</a:t>
            </a:r>
            <a:endParaRPr lang="en-US" sz="2000" dirty="0"/>
          </a:p>
        </p:txBody>
      </p:sp>
      <p:sp>
        <p:nvSpPr>
          <p:cNvPr id="13" name="Text 11"/>
          <p:cNvSpPr/>
          <p:nvPr/>
        </p:nvSpPr>
        <p:spPr>
          <a:xfrm>
            <a:off x="3657600" y="3112740"/>
            <a:ext cx="313944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F2742"/>
                </a:solidFill>
                <a:latin typeface="Inter" pitchFamily="34" charset="0"/>
                <a:ea typeface="Inter" pitchFamily="34" charset="-122"/>
                <a:cs typeface="Inter" pitchFamily="34" charset="-120"/>
              </a:rPr>
              <a:t>What exists there?</a:t>
            </a:r>
            <a:endParaRPr lang="en-US" sz="2000" dirty="0"/>
          </a:p>
        </p:txBody>
      </p:sp>
      <p:sp>
        <p:nvSpPr>
          <p:cNvPr id="14" name="Text 12"/>
          <p:cNvSpPr/>
          <p:nvPr/>
        </p:nvSpPr>
        <p:spPr>
          <a:xfrm>
            <a:off x="7010400" y="3179415"/>
            <a:ext cx="44998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70"/>
                </a:solidFill>
                <a:latin typeface="Inter" pitchFamily="34" charset="0"/>
                <a:ea typeface="Inter" pitchFamily="34" charset="-122"/>
                <a:cs typeface="Inter" pitchFamily="34" charset="-120"/>
              </a:rPr>
              <a:t>The real asset, council or facility</a:t>
            </a:r>
            <a:endParaRPr lang="en-US" sz="1500" dirty="0"/>
          </a:p>
        </p:txBody>
      </p:sp>
      <p:sp>
        <p:nvSpPr>
          <p:cNvPr id="15" name="Shape 13"/>
          <p:cNvSpPr/>
          <p:nvPr/>
        </p:nvSpPr>
        <p:spPr>
          <a:xfrm>
            <a:off x="812800" y="3623915"/>
            <a:ext cx="10566400" cy="0"/>
          </a:xfrm>
          <a:prstGeom prst="line">
            <a:avLst/>
          </a:prstGeom>
          <a:noFill/>
          <a:ln w="6350">
            <a:solidFill>
              <a:srgbClr val="B4C3D6"/>
            </a:solidFill>
            <a:prstDash val="solid"/>
          </a:ln>
        </p:spPr>
      </p:sp>
      <p:sp>
        <p:nvSpPr>
          <p:cNvPr id="16" name="Text 14"/>
          <p:cNvSpPr/>
          <p:nvPr/>
        </p:nvSpPr>
        <p:spPr>
          <a:xfrm>
            <a:off x="812800" y="3779490"/>
            <a:ext cx="2616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57C9"/>
                </a:solidFill>
                <a:latin typeface="Public Sans" pitchFamily="34" charset="0"/>
                <a:ea typeface="Public Sans" pitchFamily="34" charset="-122"/>
                <a:cs typeface="Public Sans" pitchFamily="34" charset="-120"/>
              </a:rPr>
              <a:t>Verified rules</a:t>
            </a:r>
            <a:endParaRPr lang="en-US" sz="2000" dirty="0"/>
          </a:p>
        </p:txBody>
      </p:sp>
      <p:sp>
        <p:nvSpPr>
          <p:cNvPr id="17" name="Text 15"/>
          <p:cNvSpPr/>
          <p:nvPr/>
        </p:nvSpPr>
        <p:spPr>
          <a:xfrm>
            <a:off x="3657600" y="3779490"/>
            <a:ext cx="313944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F2742"/>
                </a:solidFill>
                <a:latin typeface="Inter" pitchFamily="34" charset="0"/>
                <a:ea typeface="Inter" pitchFamily="34" charset="-122"/>
                <a:cs typeface="Inter" pitchFamily="34" charset="-120"/>
              </a:rPr>
              <a:t>Where does it go?</a:t>
            </a:r>
            <a:endParaRPr lang="en-US" sz="2000" dirty="0"/>
          </a:p>
        </p:txBody>
      </p:sp>
      <p:sp>
        <p:nvSpPr>
          <p:cNvPr id="18" name="Text 16"/>
          <p:cNvSpPr/>
          <p:nvPr/>
        </p:nvSpPr>
        <p:spPr>
          <a:xfrm>
            <a:off x="7010400" y="3846165"/>
            <a:ext cx="44998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70"/>
                </a:solidFill>
                <a:latin typeface="Inter" pitchFamily="34" charset="0"/>
                <a:ea typeface="Inter" pitchFamily="34" charset="-122"/>
                <a:cs typeface="Inter" pitchFamily="34" charset="-120"/>
              </a:rPr>
              <a:t>The official service or disposal point</a:t>
            </a:r>
            <a:endParaRPr lang="en-US" sz="1500" dirty="0"/>
          </a:p>
        </p:txBody>
      </p:sp>
      <p:sp>
        <p:nvSpPr>
          <p:cNvPr id="19" name="Shape 17"/>
          <p:cNvSpPr/>
          <p:nvPr/>
        </p:nvSpPr>
        <p:spPr>
          <a:xfrm>
            <a:off x="812800" y="4287490"/>
            <a:ext cx="10566400" cy="711200"/>
          </a:xfrm>
          <a:prstGeom prst="roundRect">
            <a:avLst>
              <a:gd name="adj" fmla="val 14286"/>
            </a:avLst>
          </a:prstGeom>
          <a:solidFill>
            <a:srgbClr val="0F2742"/>
          </a:solidFill>
          <a:ln/>
        </p:spPr>
      </p:sp>
      <p:sp>
        <p:nvSpPr>
          <p:cNvPr id="20" name="Text 18"/>
          <p:cNvSpPr/>
          <p:nvPr/>
        </p:nvSpPr>
        <p:spPr>
          <a:xfrm>
            <a:off x="1041400" y="4465290"/>
            <a:ext cx="238074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FC0FF"/>
                </a:solidFill>
                <a:latin typeface="Public Sans" pitchFamily="34" charset="0"/>
                <a:ea typeface="Public Sans" pitchFamily="34" charset="-122"/>
                <a:cs typeface="Public Sans" pitchFamily="34" charset="-120"/>
              </a:rPr>
              <a:t>FixMyArea</a:t>
            </a:r>
            <a:endParaRPr lang="en-US" sz="2000" dirty="0"/>
          </a:p>
        </p:txBody>
      </p:sp>
      <p:sp>
        <p:nvSpPr>
          <p:cNvPr id="21" name="Text 19"/>
          <p:cNvSpPr/>
          <p:nvPr/>
        </p:nvSpPr>
        <p:spPr>
          <a:xfrm>
            <a:off x="3657600" y="4465290"/>
            <a:ext cx="771779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7F9FC"/>
                </a:solidFill>
                <a:latin typeface="Inter" pitchFamily="34" charset="0"/>
                <a:ea typeface="Inter" pitchFamily="34" charset="-122"/>
                <a:cs typeface="Inter" pitchFamily="34" charset="-120"/>
              </a:rPr>
              <a:t>What should I do next?</a:t>
            </a:r>
            <a:endParaRPr lang="en-US" sz="20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70"/>
                </a:solidFill>
                <a:latin typeface="Inter" pitchFamily="34" charset="0"/>
                <a:ea typeface="Inter" pitchFamily="34" charset="-122"/>
                <a:cs typeface="Inter" pitchFamily="34" charset="-120"/>
              </a:rPr>
              <a:t>How it works · The AI never picks the council. Open data and verified rules do.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742"/>
                </a:solidFill>
                <a:latin typeface="Public Sans" pitchFamily="34" charset="0"/>
                <a:ea typeface="Public Sans" pitchFamily="34" charset="-122"/>
                <a:cs typeface="Public Sans" pitchFamily="34" charset="-120"/>
              </a:rPr>
              <a:t>Why it matters and what comes next</a:t>
            </a:r>
            <a:endParaRPr lang="en-US" sz="3600" dirty="0"/>
          </a:p>
        </p:txBody>
      </p:sp>
      <p:sp>
        <p:nvSpPr>
          <p:cNvPr id="3" name="Text 1"/>
          <p:cNvSpPr/>
          <p:nvPr/>
        </p:nvSpPr>
        <p:spPr>
          <a:xfrm>
            <a:off x="812800" y="167129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57C9"/>
                </a:solidFill>
                <a:latin typeface="Inter" pitchFamily="34" charset="0"/>
                <a:ea typeface="Inter" pitchFamily="34" charset="-122"/>
                <a:cs typeface="Inter" pitchFamily="34" charset="-120"/>
              </a:rPr>
              <a:t>TODAY</a:t>
            </a:r>
            <a:endParaRPr lang="en-US" sz="1200" dirty="0"/>
          </a:p>
        </p:txBody>
      </p:sp>
      <p:sp>
        <p:nvSpPr>
          <p:cNvPr id="4" name="Text 2"/>
          <p:cNvSpPr/>
          <p:nvPr/>
        </p:nvSpPr>
        <p:spPr>
          <a:xfrm>
            <a:off x="812800" y="2062411"/>
            <a:ext cx="5363210"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257C9"/>
                </a:solidFill>
                <a:latin typeface="Public Sans" pitchFamily="34" charset="0"/>
                <a:ea typeface="Public Sans" pitchFamily="34" charset="-122"/>
                <a:cs typeface="Public Sans" pitchFamily="34" charset="-120"/>
              </a:rPr>
              <a:t>Right desk, first time.</a:t>
            </a:r>
            <a:endParaRPr lang="en-US" sz="6000" dirty="0"/>
          </a:p>
        </p:txBody>
      </p:sp>
      <p:sp>
        <p:nvSpPr>
          <p:cNvPr id="5" name="Text 3"/>
          <p:cNvSpPr/>
          <p:nvPr/>
        </p:nvSpPr>
        <p:spPr>
          <a:xfrm>
            <a:off x="812800" y="3840411"/>
            <a:ext cx="536321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B70"/>
                </a:solidFill>
                <a:latin typeface="Inter" pitchFamily="34" charset="0"/>
                <a:ea typeface="Inter" pitchFamily="34" charset="-122"/>
                <a:cs typeface="Inter" pitchFamily="34" charset="-120"/>
              </a:rPr>
              <a:t>Reports arrive with the asset, the location and the right service attached.</a:t>
            </a:r>
            <a:endParaRPr lang="en-US" sz="1500" dirty="0"/>
          </a:p>
        </p:txBody>
      </p:sp>
      <p:sp>
        <p:nvSpPr>
          <p:cNvPr id="6" name="Shape 4"/>
          <p:cNvSpPr/>
          <p:nvPr/>
        </p:nvSpPr>
        <p:spPr>
          <a:xfrm>
            <a:off x="6642100" y="1671290"/>
            <a:ext cx="0" cy="2779911"/>
          </a:xfrm>
          <a:prstGeom prst="line">
            <a:avLst/>
          </a:prstGeom>
          <a:noFill/>
          <a:ln w="25400">
            <a:solidFill>
              <a:srgbClr val="1257C9"/>
            </a:solidFill>
            <a:prstDash val="solid"/>
          </a:ln>
        </p:spPr>
      </p:sp>
      <p:sp>
        <p:nvSpPr>
          <p:cNvPr id="7" name="Text 5"/>
          <p:cNvSpPr/>
          <p:nvPr/>
        </p:nvSpPr>
        <p:spPr>
          <a:xfrm>
            <a:off x="6959600" y="1671290"/>
            <a:ext cx="45521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57C9"/>
                </a:solidFill>
                <a:latin typeface="Inter" pitchFamily="34" charset="0"/>
                <a:ea typeface="Inter" pitchFamily="34" charset="-122"/>
                <a:cs typeface="Inter" pitchFamily="34" charset="-120"/>
              </a:rPr>
              <a:t>NEXT</a:t>
            </a:r>
            <a:endParaRPr lang="en-US" sz="1200" dirty="0"/>
          </a:p>
        </p:txBody>
      </p:sp>
      <p:sp>
        <p:nvSpPr>
          <p:cNvPr id="8" name="Text 6"/>
          <p:cNvSpPr/>
          <p:nvPr/>
        </p:nvSpPr>
        <p:spPr>
          <a:xfrm>
            <a:off x="6959600" y="1935411"/>
            <a:ext cx="45521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742"/>
                </a:solidFill>
                <a:latin typeface="Public Sans" pitchFamily="34" charset="0"/>
                <a:ea typeface="Public Sans" pitchFamily="34" charset="-122"/>
                <a:cs typeface="Public Sans" pitchFamily="34" charset="-120"/>
              </a:rPr>
              <a:t>More issue types</a:t>
            </a:r>
            <a:endParaRPr lang="en-US" sz="2000" dirty="0"/>
          </a:p>
        </p:txBody>
      </p:sp>
      <p:sp>
        <p:nvSpPr>
          <p:cNvPr id="9" name="Text 7"/>
          <p:cNvSpPr/>
          <p:nvPr/>
        </p:nvSpPr>
        <p:spPr>
          <a:xfrm>
            <a:off x="6959600" y="2291011"/>
            <a:ext cx="455218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B70"/>
                </a:solidFill>
                <a:latin typeface="Inter" pitchFamily="34" charset="0"/>
                <a:ea typeface="Inter" pitchFamily="34" charset="-122"/>
                <a:cs typeface="Inter" pitchFamily="34" charset="-120"/>
              </a:rPr>
              <a:t>Potholes and graffiti follow the same pattern.</a:t>
            </a:r>
            <a:endParaRPr lang="en-US" sz="1500" dirty="0"/>
          </a:p>
        </p:txBody>
      </p:sp>
      <p:sp>
        <p:nvSpPr>
          <p:cNvPr id="10" name="Text 8"/>
          <p:cNvSpPr/>
          <p:nvPr/>
        </p:nvSpPr>
        <p:spPr>
          <a:xfrm>
            <a:off x="6959600" y="2776786"/>
            <a:ext cx="45521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57C9"/>
                </a:solidFill>
                <a:latin typeface="Inter" pitchFamily="34" charset="0"/>
                <a:ea typeface="Inter" pitchFamily="34" charset="-122"/>
                <a:cs typeface="Inter" pitchFamily="34" charset="-120"/>
              </a:rPr>
              <a:t>LATER</a:t>
            </a:r>
            <a:endParaRPr lang="en-US" sz="1200" dirty="0"/>
          </a:p>
        </p:txBody>
      </p:sp>
      <p:sp>
        <p:nvSpPr>
          <p:cNvPr id="11" name="Text 9"/>
          <p:cNvSpPr/>
          <p:nvPr/>
        </p:nvSpPr>
        <p:spPr>
          <a:xfrm>
            <a:off x="6959600" y="3040906"/>
            <a:ext cx="45521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742"/>
                </a:solidFill>
                <a:latin typeface="Public Sans" pitchFamily="34" charset="0"/>
                <a:ea typeface="Public Sans" pitchFamily="34" charset="-122"/>
                <a:cs typeface="Public Sans" pitchFamily="34" charset="-120"/>
              </a:rPr>
              <a:t>More councils</a:t>
            </a:r>
            <a:endParaRPr lang="en-US" sz="2000" dirty="0"/>
          </a:p>
        </p:txBody>
      </p:sp>
      <p:sp>
        <p:nvSpPr>
          <p:cNvPr id="12" name="Text 10"/>
          <p:cNvSpPr/>
          <p:nvPr/>
        </p:nvSpPr>
        <p:spPr>
          <a:xfrm>
            <a:off x="6959600" y="3396506"/>
            <a:ext cx="455218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B70"/>
                </a:solidFill>
                <a:latin typeface="Inter" pitchFamily="34" charset="0"/>
                <a:ea typeface="Inter" pitchFamily="34" charset="-122"/>
                <a:cs typeface="Inter" pitchFamily="34" charset="-120"/>
              </a:rPr>
              <a:t>Wherever asset data is published.</a:t>
            </a:r>
            <a:endParaRPr lang="en-US" sz="1500" dirty="0"/>
          </a:p>
        </p:txBody>
      </p:sp>
      <p:sp>
        <p:nvSpPr>
          <p:cNvPr id="13" name="Text 11"/>
          <p:cNvSpPr/>
          <p:nvPr/>
        </p:nvSpPr>
        <p:spPr>
          <a:xfrm>
            <a:off x="6959600" y="3882281"/>
            <a:ext cx="45521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57C9"/>
                </a:solidFill>
                <a:latin typeface="Inter" pitchFamily="34" charset="0"/>
                <a:ea typeface="Inter" pitchFamily="34" charset="-122"/>
                <a:cs typeface="Inter" pitchFamily="34" charset="-120"/>
              </a:rPr>
              <a:t>HOW</a:t>
            </a:r>
            <a:endParaRPr lang="en-US" sz="1200" dirty="0"/>
          </a:p>
        </p:txBody>
      </p:sp>
      <p:sp>
        <p:nvSpPr>
          <p:cNvPr id="14" name="Text 12"/>
          <p:cNvSpPr/>
          <p:nvPr/>
        </p:nvSpPr>
        <p:spPr>
          <a:xfrm>
            <a:off x="6959600" y="4146401"/>
            <a:ext cx="45521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742"/>
                </a:solidFill>
                <a:latin typeface="Public Sans" pitchFamily="34" charset="0"/>
                <a:ea typeface="Public Sans" pitchFamily="34" charset="-122"/>
                <a:cs typeface="Public Sans" pitchFamily="34" charset="-120"/>
              </a:rPr>
              <a:t>Add datasets and rules, not code</a:t>
            </a:r>
            <a:endParaRPr lang="en-US" sz="20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70"/>
                </a:solidFill>
                <a:latin typeface="Inter" pitchFamily="34" charset="0"/>
                <a:ea typeface="Inter" pitchFamily="34" charset="-122"/>
                <a:cs typeface="Inter" pitchFamily="34" charset="-120"/>
              </a:rPr>
              <a:t>Why it matters · Next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742"/>
        </a:solidFill>
      </p:bgPr>
    </p:bg>
    <p:spTree>
      <p:nvGrpSpPr>
        <p:cNvPr id="1" name=""/>
        <p:cNvGrpSpPr/>
        <p:nvPr/>
      </p:nvGrpSpPr>
      <p:grpSpPr>
        <a:xfrm>
          <a:off x="0" y="0"/>
          <a:ext cx="0" cy="0"/>
          <a:chOff x="0" y="0"/>
          <a:chExt cx="0" cy="0"/>
        </a:xfrm>
      </p:grpSpPr>
      <p:sp>
        <p:nvSpPr>
          <p:cNvPr id="2" name="Text 0"/>
          <p:cNvSpPr/>
          <p:nvPr>
            <p:ph type="title"/>
          </p:nvPr>
        </p:nvSpPr>
        <p:spPr>
          <a:xfrm>
            <a:off x="812800" y="1699320"/>
            <a:ext cx="9810750" cy="2494161"/>
          </a:xfrm>
          <a:prstGeom prst="rect">
            <a:avLst/>
          </a:prstGeom>
          <a:noFill/>
          <a:ln/>
        </p:spPr>
        <p:txBody>
          <a:bodyPr wrap="square" lIns="0" tIns="0" rIns="0" bIns="0" rtlCol="0" anchor="t">
            <a:normAutofit/>
          </a:bodyPr>
          <a:lstStyle/>
          <a:p>
            <a:pPr algn="l" indent="0" marL="0">
              <a:lnSpc>
                <a:spcPts val="6480"/>
              </a:lnSpc>
              <a:buNone/>
            </a:pPr>
            <a:r>
              <a:rPr lang="en-US" sz="6000" b="1" i="0" dirty="0">
                <a:solidFill>
                  <a:srgbClr val="F7F9FC"/>
                </a:solidFill>
                <a:latin typeface="Public Sans" pitchFamily="34" charset="0"/>
                <a:ea typeface="Public Sans" pitchFamily="34" charset="-122"/>
                <a:cs typeface="Public Sans" pitchFamily="34" charset="-120"/>
              </a:rPr>
              <a:t>"I saw a problem, and now I know exactly what to do."</a:t>
            </a:r>
            <a:endParaRPr lang="en-US" sz="6000" dirty="0"/>
          </a:p>
        </p:txBody>
      </p:sp>
      <p:sp>
        <p:nvSpPr>
          <p:cNvPr id="3" name="Text 1"/>
          <p:cNvSpPr/>
          <p:nvPr/>
        </p:nvSpPr>
        <p:spPr>
          <a:xfrm>
            <a:off x="812800" y="447288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7F9FC"/>
                </a:solidFill>
                <a:latin typeface="Inter" pitchFamily="34" charset="0"/>
                <a:ea typeface="Inter" pitchFamily="34" charset="-122"/>
                <a:cs typeface="Inter" pitchFamily="34" charset="-120"/>
              </a:rPr>
              <a:t>FixMyArea turns a photo and a location into the right next action, using AI and Irish open data.</a:t>
            </a:r>
            <a:endParaRPr lang="en-US" sz="2000" dirty="0"/>
          </a:p>
        </p:txBody>
      </p:sp>
      <p:sp>
        <p:nvSpPr>
          <p:cNvPr id="4"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9FC"/>
                </a:solidFill>
                <a:latin typeface="Inter" pitchFamily="34" charset="0"/>
                <a:ea typeface="Inter" pitchFamily="34" charset="-122"/>
                <a:cs typeface="Inter" pitchFamily="34" charset="-120"/>
              </a:rPr>
              <a:t>FixMyArea · [Team names] · [Project link]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1567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742"/>
                </a:solidFill>
                <a:latin typeface="Public Sans" pitchFamily="34" charset="0"/>
                <a:ea typeface="Public Sans" pitchFamily="34" charset="-122"/>
                <a:cs typeface="Public Sans" pitchFamily="34" charset="-120"/>
              </a:rPr>
              <a:t>Irish public data does the deciding</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250132"/>
          <a:ext cx="10553700" cy="2413000"/>
        </p:xfrm>
        <a:graphic>
          <a:graphicData uri="http://schemas.openxmlformats.org/drawingml/2006/table">
            <a:tbl>
              <a:tblPr/>
              <a:tblGrid>
                <a:gridCol w="3517900"/>
                <a:gridCol w="3517900"/>
                <a:gridCol w="3517900"/>
              </a:tblGrid>
              <a:tr h="482600">
                <a:tc>
                  <a:txBody>
                    <a:bodyPr/>
                    <a:lstStyle/>
                    <a:p>
                      <a:pPr indent="0" marL="0">
                        <a:lnSpc>
                          <a:spcPts val="2100"/>
                        </a:lnSpc>
                        <a:buNone/>
                      </a:pPr>
                      <a:r>
                        <a:rPr lang="en-US" sz="1500" b="1" dirty="0">
                          <a:solidFill>
                            <a:srgbClr val="4A5B70"/>
                          </a:solidFill>
                          <a:latin typeface="Inter" pitchFamily="34" charset="0"/>
                          <a:ea typeface="Inter" pitchFamily="34" charset="-122"/>
                          <a:cs typeface="Inter" pitchFamily="34" charset="-120"/>
                        </a:rPr>
                        <a:t>SOURCE</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1B4B9"/>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1B4B9"/>
                      </a:solidFill>
                      <a:prstDash val="solid"/>
                      <a:round/>
                      <a:headEnd type="none" w="med" len="med"/>
                      <a:tailEnd type="none" w="med" len="med"/>
                    </a:lnB>
                    <a:solidFill>
                      <a:srgbClr val="DDE1E8"/>
                    </a:solidFill>
                  </a:tcPr>
                </a:tc>
                <a:tc>
                  <a:txBody>
                    <a:bodyPr/>
                    <a:lstStyle/>
                    <a:p>
                      <a:pPr indent="0" marL="0">
                        <a:lnSpc>
                          <a:spcPts val="2100"/>
                        </a:lnSpc>
                        <a:buNone/>
                      </a:pPr>
                      <a:r>
                        <a:rPr lang="en-US" sz="1500" b="1" dirty="0">
                          <a:solidFill>
                            <a:srgbClr val="4A5B70"/>
                          </a:solidFill>
                          <a:latin typeface="Inter" pitchFamily="34" charset="0"/>
                          <a:ea typeface="Inter" pitchFamily="34" charset="-122"/>
                          <a:cs typeface="Inter" pitchFamily="34" charset="-120"/>
                        </a:rPr>
                        <a:t>QUESTION IT ANSWERS</a:t>
                      </a:r>
                      <a:endParaRPr lang="en-US" sz="1500" dirty="0">
                        <a:latin typeface="Inter" charset="0"/>
                        <a:ea typeface="Inter" charset="0"/>
                        <a:cs typeface="Inter" charset="0"/>
                      </a:endParaRPr>
                    </a:p>
                  </a:txBody>
                  <a:tcPr marL="152400" marR="152400" marT="101600" marB="101600" anchor="t">
                    <a:lnL w="12700" cap="flat" cmpd="sng" algn="ctr">
                      <a:solidFill>
                        <a:srgbClr val="B1B4B9"/>
                      </a:solidFill>
                      <a:prstDash val="solid"/>
                      <a:round/>
                      <a:headEnd type="none" w="med" len="med"/>
                      <a:tailEnd type="none" w="med" len="med"/>
                    </a:lnL>
                    <a:lnR w="12700" cap="flat" cmpd="sng" algn="ctr">
                      <a:solidFill>
                        <a:srgbClr val="B1B4B9"/>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1B4B9"/>
                      </a:solidFill>
                      <a:prstDash val="solid"/>
                      <a:round/>
                      <a:headEnd type="none" w="med" len="med"/>
                      <a:tailEnd type="none" w="med" len="med"/>
                    </a:lnB>
                    <a:solidFill>
                      <a:srgbClr val="DDE1E8"/>
                    </a:solidFill>
                  </a:tcPr>
                </a:tc>
                <a:tc>
                  <a:txBody>
                    <a:bodyPr/>
                    <a:lstStyle/>
                    <a:p>
                      <a:pPr indent="0" marL="0">
                        <a:lnSpc>
                          <a:spcPts val="2100"/>
                        </a:lnSpc>
                        <a:buNone/>
                      </a:pPr>
                      <a:r>
                        <a:rPr lang="en-US" sz="1500" b="1" dirty="0">
                          <a:solidFill>
                            <a:srgbClr val="4A5B70"/>
                          </a:solidFill>
                          <a:latin typeface="Inter" pitchFamily="34" charset="0"/>
                          <a:ea typeface="Inter" pitchFamily="34" charset="-122"/>
                          <a:cs typeface="Inter" pitchFamily="34" charset="-120"/>
                        </a:rPr>
                        <a:t>WHAT THE RESIDENT SEES</a:t>
                      </a:r>
                      <a:endParaRPr lang="en-US" sz="1500" dirty="0">
                        <a:latin typeface="Inter" charset="0"/>
                        <a:ea typeface="Inter" charset="0"/>
                        <a:cs typeface="Inter" charset="0"/>
                      </a:endParaRPr>
                    </a:p>
                  </a:txBody>
                  <a:tcPr marL="152400" marR="152400" marT="101600" marB="101600" anchor="t">
                    <a:lnL w="12700" cap="flat" cmpd="sng" algn="ctr">
                      <a:solidFill>
                        <a:srgbClr val="B1B4B9"/>
                      </a:solidFill>
                      <a:prstDash val="solid"/>
                      <a:round/>
                      <a:headEnd type="none" w="med" len="med"/>
                      <a:tailEnd type="none" w="med" len="med"/>
                    </a:lnL>
                    <a:lnR w="12700" cap="flat" cmpd="sng" algn="ctr">
                      <a:solidFill>
                        <a:srgbClr val="B1B4B9"/>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1B4B9"/>
                      </a:solidFill>
                      <a:prstDash val="solid"/>
                      <a:round/>
                      <a:headEnd type="none" w="med" len="med"/>
                      <a:tailEnd type="none" w="med" len="med"/>
                    </a:lnB>
                    <a:solidFill>
                      <a:srgbClr val="DDE1E8"/>
                    </a:solidFill>
                  </a:tcPr>
                </a:tc>
              </a:tr>
              <a:tr h="482600">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DCC Public Lighting</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1B4B9"/>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Which light is this?</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1B4B9"/>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Asset ID and distance</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1B4B9"/>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r>
              <a:tr h="482600">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Local Authority Boundaries</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Which council covers this point?</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Responsible authority</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r>
              <a:tr h="482600">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Recycling centres</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Where can this item go?</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Nearest facility and directions</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r>
              <a:tr h="482600">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Routing rules (curated by us)</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What is the official next step?</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c>
                  <a:txBody>
                    <a:bodyPr/>
                    <a:lstStyle/>
                    <a:p>
                      <a:pPr indent="0" marL="0">
                        <a:lnSpc>
                          <a:spcPts val="2100"/>
                        </a:lnSpc>
                        <a:buNone/>
                      </a:pPr>
                      <a:r>
                        <a:rPr lang="en-US" sz="1500" dirty="0">
                          <a:solidFill>
                            <a:srgbClr val="0F2742"/>
                          </a:solidFill>
                          <a:latin typeface="Inter" pitchFamily="34" charset="0"/>
                          <a:ea typeface="Inter" pitchFamily="34" charset="-122"/>
                          <a:cs typeface="Inter" pitchFamily="34" charset="-120"/>
                        </a:rPr>
                        <a:t>Link to the right service</a:t>
                      </a:r>
                      <a:endParaRPr lang="en-US" sz="1500" dirty="0">
                        <a:latin typeface="Inter" charset="0"/>
                        <a:ea typeface="Inter" charset="0"/>
                        <a:cs typeface="Inter" charset="0"/>
                      </a:endParaRPr>
                    </a:p>
                  </a:txBody>
                  <a:tcPr marL="152400" marR="152400" marT="101600" marB="101600" anchor="t">
                    <a:lnL w="12700" cap="flat" cmpd="sng" algn="ctr">
                      <a:solidFill>
                        <a:srgbClr val="BEC2C7"/>
                      </a:solidFill>
                      <a:prstDash val="solid"/>
                      <a:round/>
                      <a:headEnd type="none" w="med" len="med"/>
                      <a:tailEnd type="none" w="med" len="med"/>
                    </a:lnL>
                    <a:lnR w="12700" cap="flat" cmpd="sng" algn="ctr">
                      <a:solidFill>
                        <a:srgbClr val="BEC2C7"/>
                      </a:solidFill>
                      <a:prstDash val="solid"/>
                      <a:round/>
                      <a:headEnd type="none" w="med" len="med"/>
                      <a:tailEnd type="none" w="med" len="med"/>
                    </a:lnR>
                    <a:lnT w="12700" cap="flat" cmpd="sng" algn="ctr">
                      <a:solidFill>
                        <a:srgbClr val="BEC2C7"/>
                      </a:solidFill>
                      <a:prstDash val="solid"/>
                      <a:round/>
                      <a:headEnd type="none" w="med" len="med"/>
                      <a:tailEnd type="none" w="med" len="med"/>
                    </a:lnT>
                    <a:lnB w="12700" cap="flat" cmpd="sng" algn="ctr">
                      <a:solidFill>
                        <a:srgbClr val="BEC2C7"/>
                      </a:solidFill>
                      <a:prstDash val="solid"/>
                      <a:round/>
                      <a:headEnd type="none" w="med" len="med"/>
                      <a:tailEnd type="none" w="med" len="med"/>
                    </a:lnB>
                  </a:tcPr>
                </a:tc>
              </a:tr>
            </a:tbl>
          </a:graphicData>
        </a:graphic>
      </p:graphicFrame>
      <p:sp>
        <p:nvSpPr>
          <p:cNvPr id="4" name="Text 1"/>
          <p:cNvSpPr/>
          <p:nvPr/>
        </p:nvSpPr>
        <p:spPr>
          <a:xfrm>
            <a:off x="812800" y="5584825"/>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B70"/>
                </a:solidFill>
                <a:latin typeface="Inter" pitchFamily="34" charset="0"/>
                <a:ea typeface="Inter" pitchFamily="34" charset="-122"/>
                <a:cs typeface="Inter" pitchFamily="34" charset="-120"/>
              </a:rPr>
              <a:t>Data-backed facts and AI suggestions are labelled separately in the app.</a:t>
            </a:r>
            <a:endParaRPr lang="en-US" sz="15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70"/>
                </a:solidFill>
                <a:latin typeface="Inter" pitchFamily="34" charset="0"/>
                <a:ea typeface="Inter" pitchFamily="34" charset="-122"/>
                <a:cs typeface="Inter" pitchFamily="34" charset="-120"/>
              </a:rPr>
              <a:t>Backup · Data · Sources: [dataset links and update dates from data.gov.ie / Dublinked]</a:t>
            </a:r>
            <a:endParaRPr lang="en-US" sz="1200" dirty="0"/>
          </a:p>
        </p:txBody>
      </p:sp>
    </p:spTree>
  </p:cSld>
  <p:clrMapOvr>
    <a:masterClrMapping/>
  </p:clrMapOvr>
</p:sld>
</file>

<file path=ppt/theme/theme1.xml><?xml version="1.0" encoding="utf-8"?>
<a:theme xmlns:a="http://schemas.openxmlformats.org/drawingml/2006/main" name="FixMyArea Pitch">
  <a:themeElements>
    <a:clrScheme name="FixMyArea Pitch">
      <a:dk1>
        <a:srgbClr val="0F2742"/>
      </a:dk1>
      <a:lt1>
        <a:srgbClr val="EEF3FA"/>
      </a:lt1>
      <a:dk2>
        <a:srgbClr val="475A70"/>
      </a:dk2>
      <a:lt2>
        <a:srgbClr val="D8DFE8"/>
      </a:lt2>
      <a:accent1>
        <a:srgbClr val="1257C9"/>
      </a:accent1>
      <a:accent2>
        <a:srgbClr val="8FC0FF"/>
      </a:accent2>
      <a:accent3>
        <a:srgbClr val="4A5B70"/>
      </a:accent3>
      <a:accent4>
        <a:srgbClr val="B4C3D6"/>
      </a:accent4>
      <a:accent5>
        <a:srgbClr val="0D1B26"/>
      </a:accent5>
      <a:accent6>
        <a:srgbClr val="9AA0A6"/>
      </a:accent6>
      <a:hlink>
        <a:srgbClr val="0563C1"/>
      </a:hlink>
      <a:folHlink>
        <a:srgbClr val="954F72"/>
      </a:folHlink>
    </a:clrScheme>
    <a:fontScheme name="FixMyArea Pitch">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FixMyArea Pitch</dc:title>
  <dc:subject/>
  <dc:creator/>
  <cp:lastModifiedBy/>
  <cp:revision>1</cp:revision>
  <dcterms:created xsi:type="dcterms:W3CDTF">2026-10-04T15:49:04Z</dcterms:created>
  <dcterms:modified xsi:type="dcterms:W3CDTF">2026-10-04T15:49:04Z</dcterms:modified>
</cp:coreProperties>
</file>